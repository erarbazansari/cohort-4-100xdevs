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Gagalin" charset="1" panose="00000500000000000000"/>
      <p:regular r:id="rId31"/>
    </p:embeddedFont>
    <p:embeddedFont>
      <p:font typeface="Carlito" charset="1" panose="020F05020202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30887" y="1890723"/>
            <a:ext cx="4342457" cy="6505554"/>
          </a:xfrm>
          <a:custGeom>
            <a:avLst/>
            <a:gdLst/>
            <a:ahLst/>
            <a:cxnLst/>
            <a:rect r="r" b="b" t="t" l="l"/>
            <a:pathLst>
              <a:path h="6505554" w="4342457">
                <a:moveTo>
                  <a:pt x="0" y="0"/>
                </a:moveTo>
                <a:lnTo>
                  <a:pt x="4342458" y="0"/>
                </a:lnTo>
                <a:lnTo>
                  <a:pt x="4342458" y="6505554"/>
                </a:lnTo>
                <a:lnTo>
                  <a:pt x="0" y="650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5857" y="558317"/>
            <a:ext cx="11381482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INTRODUCTION TO C++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258" y="380953"/>
            <a:ext cx="8880946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PLAN FOR TODAY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627" y="2038735"/>
            <a:ext cx="12410217" cy="778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7695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How computers think?</a:t>
            </a:r>
          </a:p>
          <a:p>
            <a:pPr algn="l" marL="971550" indent="-485775" lvl="1">
              <a:lnSpc>
                <a:spcPts val="7695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Why programming languages exist?</a:t>
            </a:r>
          </a:p>
          <a:p>
            <a:pPr algn="l" marL="971550" indent="-485775" lvl="1">
              <a:lnSpc>
                <a:spcPts val="7695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Writing our first C++ code</a:t>
            </a:r>
          </a:p>
          <a:p>
            <a:pPr algn="l" marL="971550" indent="-485775" lvl="1">
              <a:lnSpc>
                <a:spcPts val="7695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Rules of printing</a:t>
            </a:r>
          </a:p>
          <a:p>
            <a:pPr algn="l" marL="971550" indent="-485775" lvl="1">
              <a:lnSpc>
                <a:spcPts val="7695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Data types &amp; operators</a:t>
            </a:r>
          </a:p>
          <a:p>
            <a:pPr algn="l" marL="971550" indent="-485775" lvl="1">
              <a:lnSpc>
                <a:spcPts val="7695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Taking input</a:t>
            </a:r>
          </a:p>
          <a:p>
            <a:pPr algn="l" marL="971550" indent="-485775" lvl="1">
              <a:lnSpc>
                <a:spcPts val="7695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Making decisions (if-else)</a:t>
            </a:r>
          </a:p>
          <a:p>
            <a:pPr algn="l" marL="971550" indent="-485775" lvl="1">
              <a:lnSpc>
                <a:spcPts val="7695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Assignments walkthrough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2741845" y="4278315"/>
            <a:ext cx="5546155" cy="5546155"/>
          </a:xfrm>
          <a:custGeom>
            <a:avLst/>
            <a:gdLst/>
            <a:ahLst/>
            <a:cxnLst/>
            <a:rect r="r" b="b" t="t" l="l"/>
            <a:pathLst>
              <a:path h="5546155" w="5546155">
                <a:moveTo>
                  <a:pt x="5546155" y="0"/>
                </a:moveTo>
                <a:lnTo>
                  <a:pt x="0" y="0"/>
                </a:lnTo>
                <a:lnTo>
                  <a:pt x="0" y="5546155"/>
                </a:lnTo>
                <a:lnTo>
                  <a:pt x="5546155" y="5546155"/>
                </a:lnTo>
                <a:lnTo>
                  <a:pt x="554615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258" y="371428"/>
            <a:ext cx="13618953" cy="353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84"/>
              </a:lnSpc>
            </a:pPr>
            <a:r>
              <a:rPr lang="en-US" sz="1013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What is Programming?</a:t>
            </a:r>
          </a:p>
          <a:p>
            <a:pPr algn="l">
              <a:lnSpc>
                <a:spcPts val="14184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383092" y="2821715"/>
            <a:ext cx="5322143" cy="4643570"/>
          </a:xfrm>
          <a:custGeom>
            <a:avLst/>
            <a:gdLst/>
            <a:ahLst/>
            <a:cxnLst/>
            <a:rect r="r" b="b" t="t" l="l"/>
            <a:pathLst>
              <a:path h="4643570" w="5322143">
                <a:moveTo>
                  <a:pt x="0" y="0"/>
                </a:moveTo>
                <a:lnTo>
                  <a:pt x="5322143" y="0"/>
                </a:lnTo>
                <a:lnTo>
                  <a:pt x="5322143" y="4643570"/>
                </a:lnTo>
                <a:lnTo>
                  <a:pt x="0" y="4643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767362"/>
            <a:ext cx="8796150" cy="5816454"/>
          </a:xfrm>
          <a:custGeom>
            <a:avLst/>
            <a:gdLst/>
            <a:ahLst/>
            <a:cxnLst/>
            <a:rect r="r" b="b" t="t" l="l"/>
            <a:pathLst>
              <a:path h="5816454" w="8796150">
                <a:moveTo>
                  <a:pt x="0" y="0"/>
                </a:moveTo>
                <a:lnTo>
                  <a:pt x="8796150" y="0"/>
                </a:lnTo>
                <a:lnTo>
                  <a:pt x="8796150" y="5816455"/>
                </a:lnTo>
                <a:lnTo>
                  <a:pt x="0" y="581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Why Programming Languages Exist?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77412" y="3267338"/>
            <a:ext cx="6185589" cy="5424604"/>
          </a:xfrm>
          <a:custGeom>
            <a:avLst/>
            <a:gdLst/>
            <a:ahLst/>
            <a:cxnLst/>
            <a:rect r="r" b="b" t="t" l="l"/>
            <a:pathLst>
              <a:path h="5424604" w="6185589">
                <a:moveTo>
                  <a:pt x="0" y="0"/>
                </a:moveTo>
                <a:lnTo>
                  <a:pt x="6185590" y="0"/>
                </a:lnTo>
                <a:lnTo>
                  <a:pt x="6185590" y="5424605"/>
                </a:lnTo>
                <a:lnTo>
                  <a:pt x="0" y="5424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270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IDE &amp; Importance of Syntax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258" y="2658411"/>
            <a:ext cx="11212140" cy="5983681"/>
          </a:xfrm>
          <a:custGeom>
            <a:avLst/>
            <a:gdLst/>
            <a:ahLst/>
            <a:cxnLst/>
            <a:rect r="r" b="b" t="t" l="l"/>
            <a:pathLst>
              <a:path h="5983681" w="11212140">
                <a:moveTo>
                  <a:pt x="0" y="0"/>
                </a:moveTo>
                <a:lnTo>
                  <a:pt x="11212140" y="0"/>
                </a:lnTo>
                <a:lnTo>
                  <a:pt x="11212140" y="5983681"/>
                </a:lnTo>
                <a:lnTo>
                  <a:pt x="0" y="5983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First C++ Code (Hello World)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SOME IMPORTANT </a:t>
            </a:r>
            <a:r>
              <a:rPr lang="en-US" sz="8332">
                <a:solidFill>
                  <a:srgbClr val="F5BB49"/>
                </a:solidFill>
                <a:latin typeface="Gagalin"/>
                <a:ea typeface="Gagalin"/>
                <a:cs typeface="Gagalin"/>
                <a:sym typeface="Gagalin"/>
              </a:rPr>
              <a:t>RULES</a:t>
            </a: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TO REMEMBER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2164" y="1933960"/>
            <a:ext cx="16937136" cy="55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5BB49"/>
                </a:solidFill>
                <a:latin typeface="Carlito"/>
                <a:ea typeface="Carlito"/>
                <a:cs typeface="Carlito"/>
                <a:sym typeface="Carlito"/>
              </a:rPr>
              <a:t>Semicolon</a:t>
            </a: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: Every statement must end with ;</a:t>
            </a:r>
          </a:p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5BB49"/>
                </a:solidFill>
                <a:latin typeface="Carlito"/>
                <a:ea typeface="Carlito"/>
                <a:cs typeface="Carlito"/>
                <a:sym typeface="Carlito"/>
              </a:rPr>
              <a:t>Case Sensitive</a:t>
            </a: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: cout will work, but COUt will not.</a:t>
            </a:r>
          </a:p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5BB49"/>
                </a:solidFill>
                <a:latin typeface="Carlito"/>
                <a:ea typeface="Carlito"/>
                <a:cs typeface="Carlito"/>
                <a:sym typeface="Carlito"/>
              </a:rPr>
              <a:t>Printing Text</a:t>
            </a: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: Text must be inside double quotes.</a:t>
            </a:r>
          </a:p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5BB49"/>
                </a:solidFill>
                <a:latin typeface="Carlito"/>
                <a:ea typeface="Carlito"/>
                <a:cs typeface="Carlito"/>
                <a:sym typeface="Carlito"/>
              </a:rPr>
              <a:t>New Line</a:t>
            </a:r>
            <a:r>
              <a:rPr lang="en-US" sz="4500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: For a new line, use endl.</a:t>
            </a:r>
          </a:p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5BB49"/>
                </a:solidFill>
                <a:latin typeface="Carlito"/>
                <a:ea typeface="Carlito"/>
                <a:cs typeface="Carlito"/>
                <a:sym typeface="Carlito"/>
              </a:rPr>
              <a:t>Brackets Come in Pairs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258" y="2736460"/>
            <a:ext cx="11722187" cy="6521840"/>
          </a:xfrm>
          <a:custGeom>
            <a:avLst/>
            <a:gdLst/>
            <a:ahLst/>
            <a:cxnLst/>
            <a:rect r="r" b="b" t="t" l="l"/>
            <a:pathLst>
              <a:path h="6521840" w="11722187">
                <a:moveTo>
                  <a:pt x="0" y="0"/>
                </a:moveTo>
                <a:lnTo>
                  <a:pt x="11722187" y="0"/>
                </a:lnTo>
                <a:lnTo>
                  <a:pt x="11722187" y="6521840"/>
                </a:lnTo>
                <a:lnTo>
                  <a:pt x="0" y="6521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65" r="-128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3077" y="513121"/>
            <a:ext cx="15172276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ARITHEMATIC </a:t>
            </a: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Operators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3077" y="513121"/>
            <a:ext cx="15172276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VARIABLES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3077" y="2219781"/>
            <a:ext cx="15172276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5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A variable is a named box in the computer’s memory where we store some data.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258" y="2348452"/>
            <a:ext cx="12915605" cy="6909848"/>
          </a:xfrm>
          <a:custGeom>
            <a:avLst/>
            <a:gdLst/>
            <a:ahLst/>
            <a:cxnLst/>
            <a:rect r="r" b="b" t="t" l="l"/>
            <a:pathLst>
              <a:path h="6909848" w="12915605">
                <a:moveTo>
                  <a:pt x="0" y="0"/>
                </a:moveTo>
                <a:lnTo>
                  <a:pt x="12915604" y="0"/>
                </a:lnTo>
                <a:lnTo>
                  <a:pt x="12915604" y="6909848"/>
                </a:lnTo>
                <a:lnTo>
                  <a:pt x="0" y="6909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Data Types (FOUNDATION)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SOME IMPORTANT </a:t>
            </a:r>
            <a:r>
              <a:rPr lang="en-US" sz="8332">
                <a:solidFill>
                  <a:srgbClr val="F5BB49"/>
                </a:solidFill>
                <a:latin typeface="Gagalin"/>
                <a:ea typeface="Gagalin"/>
                <a:cs typeface="Gagalin"/>
                <a:sym typeface="Gagalin"/>
              </a:rPr>
              <a:t>RULES</a:t>
            </a: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TO REMEMBER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2164" y="1933960"/>
            <a:ext cx="16937136" cy="44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Variable must be declared before use</a:t>
            </a:r>
          </a:p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No spaces in variable names</a:t>
            </a:r>
          </a:p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Case sensitive: marks ≠ Ma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r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ks</a:t>
            </a:r>
          </a:p>
          <a:p>
            <a:pPr algn="l" marL="971550" indent="-485775" lvl="1">
              <a:lnSpc>
                <a:spcPts val="8775"/>
              </a:lnSpc>
              <a:buFont typeface="Arial"/>
              <a:buChar char="•"/>
            </a:pP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Nam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e 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sho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u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ld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 be 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mea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ni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ngf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ul 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(n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ot 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x1,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 a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 e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v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er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ywh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er</a:t>
            </a:r>
            <a:r>
              <a:rPr lang="en-US" sz="4500">
                <a:solidFill>
                  <a:srgbClr val="FCFDFD"/>
                </a:solidFill>
                <a:latin typeface="Carlito"/>
                <a:ea typeface="Carlito"/>
                <a:cs typeface="Carlito"/>
                <a:sym typeface="Carlito"/>
              </a:rPr>
              <a:t>e)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3077" y="513121"/>
            <a:ext cx="15172276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TAKING INPUT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258" y="2603456"/>
            <a:ext cx="12326568" cy="6879007"/>
          </a:xfrm>
          <a:custGeom>
            <a:avLst/>
            <a:gdLst/>
            <a:ahLst/>
            <a:cxnLst/>
            <a:rect r="r" b="b" t="t" l="l"/>
            <a:pathLst>
              <a:path h="6879007" w="12326568">
                <a:moveTo>
                  <a:pt x="0" y="0"/>
                </a:moveTo>
                <a:lnTo>
                  <a:pt x="12326567" y="0"/>
                </a:lnTo>
                <a:lnTo>
                  <a:pt x="12326567" y="6879007"/>
                </a:lnTo>
                <a:lnTo>
                  <a:pt x="0" y="6879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128" r="-10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RELATIONAL OPERATORS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LOGICAL OPERATORS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258" y="409528"/>
            <a:ext cx="19547949" cy="142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5"/>
              </a:lnSpc>
              <a:spcBef>
                <a:spcPct val="0"/>
              </a:spcBef>
            </a:pPr>
            <a:r>
              <a:rPr lang="en-US" sz="833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CONDITIONALS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DAG-gCBh538</dc:identifier>
  <dcterms:modified xsi:type="dcterms:W3CDTF">2011-08-01T06:04:30Z</dcterms:modified>
  <cp:revision>1</cp:revision>
  <dc:title>INTRODUCTION TO C++</dc:title>
</cp:coreProperties>
</file>